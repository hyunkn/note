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108192"/>
            <a:ext cx="10771632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9107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E8E88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E8E88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hero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49808" y="5669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20" kern="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VISUAL TRAVEL GUIDE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1261872"/>
            <a:ext cx="105156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/>
            <a:r>
              <a:rPr sz="3800" b="1">
                <a:solidFill>
                  <a:srgbClr val="171717"/>
                </a:solidFill>
                <a:latin typeface="Noto Sans CJK KR"/>
              </a:rPr>
              <a:t>낯선 관광지에서는 현재 위치와
다음 이동 방향을 빠르게 판단하기 어렵다</a:t>
            </a:r>
          </a:p>
        </p:txBody>
      </p:sp>
      <p:sp>
        <p:nvSpPr>
          <p:cNvPr id="4" name="Text 2"/>
          <p:cNvSpPr/>
          <p:nvPr/>
        </p:nvSpPr>
        <p:spPr>
          <a:xfrm>
            <a:off x="749808" y="290779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문제정의 · AS-IS · 실제 여행객 리서치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49808" y="3401568"/>
            <a:ext cx="809244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/>
            <a:r>
              <a:rPr sz="1920" b="0">
                <a:solidFill>
                  <a:srgbClr val="565B63"/>
                </a:solidFill>
                <a:latin typeface="Noto Sans CJK KR"/>
              </a:rPr>
              <a:t>지도·표지·주변 랜드마크를 반복해서 비교해야 하는 경우가 있다.</a:t>
            </a:r>
          </a:p>
        </p:txBody>
      </p:sp>
      <p:sp>
        <p:nvSpPr>
          <p:cNvPr id="6" name="Shape 4"/>
          <p:cNvSpPr/>
          <p:nvPr/>
        </p:nvSpPr>
        <p:spPr>
          <a:xfrm>
            <a:off x="914400" y="5010912"/>
            <a:ext cx="8147304" cy="0"/>
          </a:xfrm>
          <a:prstGeom prst="line">
            <a:avLst/>
          </a:prstGeom>
          <a:noFill/>
          <a:ln w="15240">
            <a:solidFill>
              <a:srgbClr val="B7BBC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1248" y="4937760"/>
            <a:ext cx="146304" cy="14630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526694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95528" y="5513832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547872" y="4937760"/>
            <a:ext cx="146304" cy="146304"/>
          </a:xfrm>
          <a:prstGeom prst="ellipse">
            <a:avLst/>
          </a:prstGeom>
          <a:solidFill>
            <a:srgbClr val="72CFF4"/>
          </a:solidFill>
          <a:ln w="12700">
            <a:solidFill>
              <a:srgbClr val="67C6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02152" y="526694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WHAT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02152" y="5513832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눈앞 대상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272784" y="4937760"/>
            <a:ext cx="146304" cy="14630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27064" y="526694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27064" y="5513832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설명·주변 POI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988552" y="4937760"/>
            <a:ext cx="146304" cy="14630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42832" y="526694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DIRECTION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42832" y="5513832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방향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9808" y="6254496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종합설계2 · 10조 · 정현우 · 2026.09.20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91072"/>
            <a:ext cx="274320" cy="164592"/>
          </a:xfrm>
          <a:prstGeom prst="rect">
            <a:avLst/>
          </a:prstGeom>
          <a:ln>
            <a:noFill/>
          </a:ln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E8E88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ontent_w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393192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0" kern="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조사 배경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3050" b="1">
                <a:solidFill>
                  <a:srgbClr val="171717"/>
                </a:solidFill>
                <a:latin typeface="Noto Sans CJK KR"/>
              </a:rPr>
              <a:t>여행 전 관광 정보는 인터넷·앱을 중심으로 찾는다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749808" y="162763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 외래관광객조사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9808" y="1938528"/>
            <a:ext cx="2240280" cy="667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2EA8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71.1%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8096" y="2670048"/>
            <a:ext cx="333756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여행 전 한국 정보를</a:t>
            </a:r>
            <a:endParaRPr lang="en-US" sz="1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인터넷 사이트·앱에서 획득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8096" y="352958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응답자 중 비율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8096" y="3849624"/>
            <a:ext cx="411480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68096" y="3849624"/>
            <a:ext cx="2925623" cy="201168"/>
          </a:xfrm>
          <a:prstGeom prst="rect">
            <a:avLst/>
          </a:prstGeom>
          <a:solidFill>
            <a:srgbClr val="72CFF4"/>
          </a:solidFill>
          <a:ln w="12700">
            <a:solidFill>
              <a:srgbClr val="67C6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8096" y="409651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25696" y="409651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44622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온라인 채널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68096" y="4773168"/>
            <a:ext cx="137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SNS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2223089" y="4846320"/>
            <a:ext cx="2020824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223089" y="4846320"/>
            <a:ext cx="1212494" cy="118872"/>
          </a:xfrm>
          <a:prstGeom prst="rect">
            <a:avLst/>
          </a:prstGeom>
          <a:solidFill>
            <a:srgbClr val="72CFF4"/>
          </a:solidFill>
          <a:ln w="12700">
            <a:solidFill>
              <a:srgbClr val="67C6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365163" y="4754880"/>
            <a:ext cx="44458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A8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60.0%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68096" y="5239512"/>
            <a:ext cx="137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동영상 사이트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2223089" y="5312664"/>
            <a:ext cx="2020824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23089" y="5312664"/>
            <a:ext cx="901288" cy="118872"/>
          </a:xfrm>
          <a:prstGeom prst="rect">
            <a:avLst/>
          </a:prstGeom>
          <a:solidFill>
            <a:srgbClr val="72CFF4"/>
          </a:solidFill>
          <a:ln w="12700">
            <a:solidFill>
              <a:srgbClr val="67C6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65163" y="5221224"/>
            <a:ext cx="44458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A8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44.6%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376672" y="1682496"/>
            <a:ext cx="0" cy="4178808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79008" y="173736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NAVER Map 외국어 사용자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5779008" y="2130552"/>
            <a:ext cx="224028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2EA8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+16.4%</a:t>
            </a:r>
            <a:endParaRPr lang="en-US" sz="3700" dirty="0"/>
          </a:p>
        </p:txBody>
      </p:sp>
      <p:sp>
        <p:nvSpPr>
          <p:cNvPr id="24" name="Text 22"/>
          <p:cNvSpPr/>
          <p:nvPr/>
        </p:nvSpPr>
        <p:spPr>
          <a:xfrm>
            <a:off x="7955280" y="2331720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2025.09 → 2026.04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779008" y="2999232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지수 (2025.09=100)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797296" y="3483864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2025.09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6693408" y="3520440"/>
            <a:ext cx="3676454" cy="219456"/>
          </a:xfrm>
          <a:prstGeom prst="rect">
            <a:avLst/>
          </a:prstGeom>
          <a:solidFill>
            <a:srgbClr val="72CFF4"/>
          </a:solidFill>
          <a:ln w="12700">
            <a:solidFill>
              <a:srgbClr val="67C6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479590" y="3483864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797296" y="4123944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2026.04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6693408" y="4160520"/>
            <a:ext cx="4279392" cy="219456"/>
          </a:xfrm>
          <a:prstGeom prst="rect">
            <a:avLst/>
          </a:prstGeom>
          <a:solidFill>
            <a:srgbClr val="72CFF4"/>
          </a:solidFill>
          <a:ln w="12700">
            <a:solidFill>
              <a:srgbClr val="67C6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082528" y="4123944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A8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116.4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779008" y="4846320"/>
            <a:ext cx="4956048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1530">
                <a:solidFill>
                  <a:srgbClr val="171717"/>
                </a:solidFill>
                <a:latin typeface="Noto Sans CJK KR"/>
              </a:rPr>
              <a:t>2025년 조사에서는 여행 전 인터넷·앱 이용 비중이 높았고
2026년에는 NAVER Map의 외국어 사용자도 증가했다.</a:t>
            </a:r>
            <a:endParaRPr lang="en-US" sz="1530" dirty="0"/>
          </a:p>
        </p:txBody>
      </p:sp>
      <p:sp>
        <p:nvSpPr>
          <p:cNvPr id="33" name="Text 31"/>
          <p:cNvSpPr/>
          <p:nvPr/>
        </p:nvSpPr>
        <p:spPr>
          <a:xfrm>
            <a:off x="5779008" y="5577840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NAVER 수치는 두 시점의 사용자 지수를 비교한 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6254496"/>
            <a:ext cx="9966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출처: 2025 외래관광객조사[확정치] · NAVER 2026 BE LOCAL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91072"/>
            <a:ext cx="274320" cy="164592"/>
          </a:xfrm>
          <a:prstGeom prst="rect">
            <a:avLst/>
          </a:prstGeom>
          <a:ln>
            <a:noFill/>
          </a:ln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E8E88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content_w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393192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0" kern="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AS-IS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22376" y="749808"/>
            <a:ext cx="10698480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/>
            <a:r>
              <a:rPr sz="3050" b="1">
                <a:solidFill>
                  <a:srgbClr val="171717"/>
                </a:solidFill>
                <a:latin typeface="Noto Sans CJK KR"/>
              </a:rPr>
              <a:t>관광객은 여행 중 지도·안내판·검색을 상황에 따라 함께 사용한다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181051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2084831"/>
            <a:ext cx="10287000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19456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장소 발견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71800" y="219456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2971800" y="2441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위치·경로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120640" y="2441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이해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69480" y="219456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7269480" y="2441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 탐색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18320" y="219456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9418320" y="244144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POI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305409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수단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3319272"/>
            <a:ext cx="10287000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3547872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· SNS</a:t>
            </a:r>
            <a:endParaRPr lang="en-US" sz="14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관광정보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2971800" y="3547872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앱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5120640" y="3547872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안내판 · QR</a:t>
            </a:r>
            <a:endParaRPr lang="en-US" sz="14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관광지도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7269480" y="3547872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번역 · 웹</a:t>
            </a:r>
            <a:endParaRPr lang="en-US" sz="14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이미지검색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9418320" y="3547872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지도와 실제</a:t>
            </a:r>
            <a:endParaRPr lang="en-US" sz="14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방향 비교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822960" y="446227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A8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마찰이 생기는 지점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4718304"/>
            <a:ext cx="10287000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907792" y="5010912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EA8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319272" y="4956048"/>
            <a:ext cx="20848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지도상의 위치 ↔</a:t>
            </a:r>
            <a:endParaRPr lang="en-US" sz="1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진행 방향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047488" y="5010912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EA8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58968" y="4956048"/>
            <a:ext cx="20848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눈앞 대상의 이름·</a:t>
            </a:r>
            <a:endParaRPr lang="en-US" sz="1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 확인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534656" y="5010912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EA8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946136" y="4956048"/>
            <a:ext cx="25146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서비스·언어 사이의</a:t>
            </a:r>
            <a:endParaRPr lang="en-US" sz="1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맥락 전환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22960" y="5669280"/>
            <a:ext cx="100126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1500">
                <a:solidFill>
                  <a:srgbClr val="565B63"/>
                </a:solidFill>
                <a:latin typeface="Noto Sans CJK KR"/>
              </a:rPr>
              <a:t>같은 장소를 확인하기 위해 지도 앱·현장 안내·검색을 번갈아 사용하는 과정이 반복된다.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31520" y="6254496"/>
            <a:ext cx="9966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근거: 실제 여행객 후기 R1~R5 · 2025 외래관광객조사 S4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91072"/>
            <a:ext cx="274320" cy="164592"/>
          </a:xfrm>
          <a:prstGeom prst="rect">
            <a:avLst/>
          </a:prstGeom>
          <a:ln>
            <a:noFill/>
          </a:ln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E8E88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395728" y="2587752"/>
            <a:ext cx="411480" cy="9144"/>
          </a:xfrm>
          <a:prstGeom prst="rect">
            <a:avLst/>
          </a:prstGeom>
          <a:solidFill>
            <a:srgbClr val="D9DDE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Triangle 37"/>
          <p:cNvSpPr/>
          <p:nvPr/>
        </p:nvSpPr>
        <p:spPr>
          <a:xfrm>
            <a:off x="2779776" y="2537460"/>
            <a:ext cx="100584" cy="109728"/>
          </a:xfrm>
          <a:prstGeom prst="rtTriangle">
            <a:avLst/>
          </a:prstGeom>
          <a:solidFill>
            <a:srgbClr val="6B728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44568" y="2587752"/>
            <a:ext cx="411480" cy="9144"/>
          </a:xfrm>
          <a:prstGeom prst="rect">
            <a:avLst/>
          </a:prstGeom>
          <a:solidFill>
            <a:srgbClr val="D9DDE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Triangle 39"/>
          <p:cNvSpPr/>
          <p:nvPr/>
        </p:nvSpPr>
        <p:spPr>
          <a:xfrm>
            <a:off x="4928616" y="2537460"/>
            <a:ext cx="100584" cy="109728"/>
          </a:xfrm>
          <a:prstGeom prst="rtTriangle">
            <a:avLst/>
          </a:prstGeom>
          <a:solidFill>
            <a:srgbClr val="6B728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93408" y="2587752"/>
            <a:ext cx="411480" cy="9144"/>
          </a:xfrm>
          <a:prstGeom prst="rect">
            <a:avLst/>
          </a:prstGeom>
          <a:solidFill>
            <a:srgbClr val="D9DDE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Triangle 41"/>
          <p:cNvSpPr/>
          <p:nvPr/>
        </p:nvSpPr>
        <p:spPr>
          <a:xfrm>
            <a:off x="7077456" y="2537460"/>
            <a:ext cx="100584" cy="109728"/>
          </a:xfrm>
          <a:prstGeom prst="rtTriangle">
            <a:avLst/>
          </a:prstGeom>
          <a:solidFill>
            <a:srgbClr val="6B728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42248" y="2587752"/>
            <a:ext cx="411480" cy="9144"/>
          </a:xfrm>
          <a:prstGeom prst="rect">
            <a:avLst/>
          </a:prstGeom>
          <a:solidFill>
            <a:srgbClr val="D9DDE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Triangle 43"/>
          <p:cNvSpPr/>
          <p:nvPr/>
        </p:nvSpPr>
        <p:spPr>
          <a:xfrm>
            <a:off x="9226296" y="2537460"/>
            <a:ext cx="100584" cy="109728"/>
          </a:xfrm>
          <a:prstGeom prst="rtTriangle">
            <a:avLst/>
          </a:prstGeom>
          <a:solidFill>
            <a:srgbClr val="6B728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ontent_w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393192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0" kern="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실제 사용자 사례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/>
            <a:r>
              <a:rPr sz="3050" b="1">
                <a:solidFill>
                  <a:srgbClr val="171717"/>
                </a:solidFill>
                <a:latin typeface="Noto Sans CJK KR"/>
              </a:rPr>
              <a:t>서울·부산 실제 후기에서 불편 사례와 잘 해결된 사례를 함께 확인했다</a:t>
            </a:r>
          </a:p>
        </p:txBody>
      </p:sp>
      <p:sp>
        <p:nvSpPr>
          <p:cNvPr id="4" name="Text 2"/>
          <p:cNvSpPr/>
          <p:nvPr/>
        </p:nvSpPr>
        <p:spPr>
          <a:xfrm>
            <a:off x="749808" y="173736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R1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749808" y="201168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· 경복궁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9808" y="2395728"/>
            <a:ext cx="2724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1">
                <a:solidFill>
                  <a:srgbClr val="171717"/>
                </a:solidFill>
                <a:latin typeface="Noto Sans CJK KR"/>
              </a:rPr>
              <a:t>“안내 표지가 매우 적다”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3456432"/>
            <a:ext cx="2651760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3730752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사례가 보여주는 것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49808" y="4041648"/>
            <a:ext cx="270662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넓은 공간에서는 길안내·동선 정보의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접근성이 중요했다.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02736" y="1755648"/>
            <a:ext cx="0" cy="310896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822192" y="173736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R3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3822192" y="201168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부산 · 감천문화마을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22192" y="2468880"/>
            <a:ext cx="27249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관광안내센터에서 지도를 받아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지점을 따라 이동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22192" y="3511296"/>
            <a:ext cx="2651760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22192" y="374904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사례가 보여주는 것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822192" y="4041648"/>
            <a:ext cx="270662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관광지 전용 지도가 실제 현장 탐색의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보조 도구로 사용됐다.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1755648"/>
            <a:ext cx="0" cy="310896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94576" y="173736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R5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894576" y="201168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부산 · 미포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94576" y="2468880"/>
            <a:ext cx="27249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Mipo Station 검색 실패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한글명 확인 → NAVER Map 재검색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94576" y="3511296"/>
            <a:ext cx="2651760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94576" y="374904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사례가 보여주는 것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894576" y="4041648"/>
            <a:ext cx="270662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사이에서 장소명·언어를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직접 연결했다.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120640"/>
            <a:ext cx="10104120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9808" y="534009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A8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긍정 반례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5285232"/>
            <a:ext cx="795528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창덕궁의 QR 오디오가이드·다국어 설명은 관람 이해에 도움이 됐다는 후기가 있었다.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28800" y="5641848"/>
            <a:ext cx="8641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1320">
                <a:solidFill>
                  <a:srgbClr val="565B63"/>
                </a:solidFill>
                <a:latin typeface="Noto Sans CJK KR"/>
              </a:rPr>
              <a:t>관광지마다 길안내·설명·동선 지원 방식이 달랐고, 잘 해결된 사례도 함께 있었다.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731520" y="6254496"/>
            <a:ext cx="9966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출처: TripAdvisor R1~R4 · Reddit r/koreatravel R5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91072"/>
            <a:ext cx="274320" cy="164592"/>
          </a:xfrm>
          <a:prstGeom prst="rect">
            <a:avLst/>
          </a:prstGeom>
          <a:ln>
            <a:noFill/>
          </a:ln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E8E88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49808" y="2907792"/>
            <a:ext cx="2724912" cy="3108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65B63"/>
                </a:solidFill>
                <a:latin typeface="Noto Sans CJK KR"/>
              </a:rPr>
              <a:t>원문: “signage is minimal”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ontent_w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393192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0" kern="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 문제 정의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22376" y="749808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/>
            <a:r>
              <a:rPr sz="3050" b="1">
                <a:solidFill>
                  <a:srgbClr val="171717"/>
                </a:solidFill>
                <a:latin typeface="Noto Sans CJK KR"/>
              </a:rPr>
              <a:t>조사에서 정리한 주요 문제는 다음 5가지다</a:t>
            </a:r>
          </a:p>
        </p:txBody>
      </p:sp>
      <p:sp>
        <p:nvSpPr>
          <p:cNvPr id="4" name="Text 2"/>
          <p:cNvSpPr/>
          <p:nvPr/>
        </p:nvSpPr>
        <p:spPr>
          <a:xfrm>
            <a:off x="768096" y="171907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우선순위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8096" y="1993392"/>
            <a:ext cx="470916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위치와 실제 이동 방향을</a:t>
            </a:r>
            <a:endParaRPr lang="en-US" sz="2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6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빠르게 연결하기 어렵다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768096" y="3035808"/>
            <a:ext cx="4663440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68096" y="334670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우선순위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3639312"/>
            <a:ext cx="47365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눈앞 대상의 이름과 의미를</a:t>
            </a:r>
            <a:endParaRPr lang="en-US" sz="2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바로 확인하는 경험이 장소마다 다르다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760720" y="1746504"/>
            <a:ext cx="0" cy="3803904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53912" y="1874520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93408" y="184708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영문 장소·주소 검색에서 우회가 생기는 사례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53912" y="2679192"/>
            <a:ext cx="4407408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53912" y="304495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93408" y="301752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여행 전·중 여러 정보 채널을 상황에 따라 병행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53912" y="3849624"/>
            <a:ext cx="4407408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53912" y="421538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93408" y="4187952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이름을 모르면 검색어보다 단서를 먼저 찾아야 함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53912" y="5532120"/>
            <a:ext cx="44074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1380">
                <a:solidFill>
                  <a:srgbClr val="565B63"/>
                </a:solidFill>
                <a:latin typeface="Noto Sans CJK KR"/>
              </a:rPr>
              <a:t>1·2번을 우선 문제로 두고, 3~5번은 탐색 과정에서 함께 나타나는 문제로 정리했다.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731520" y="6254496"/>
            <a:ext cx="9966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근거: 문제점 목록 R1~R5 · S4~S5 · E1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91072"/>
            <a:ext cx="274320" cy="164592"/>
          </a:xfrm>
          <a:prstGeom prst="rect">
            <a:avLst/>
          </a:prstGeom>
          <a:ln>
            <a:noFill/>
          </a:ln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E8E88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ontent_w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393192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0" kern="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 Persona · Empathy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22376" y="749808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/>
            <a:r>
              <a:rPr sz="3050" b="1">
                <a:solidFill>
                  <a:srgbClr val="171717"/>
                </a:solidFill>
                <a:latin typeface="Noto Sans CJK KR"/>
              </a:rPr>
              <a:t>대표 사용자는 처음 가는 관광지를 스스로 둘러보는 자유여행객이다</a:t>
            </a:r>
          </a:p>
        </p:txBody>
      </p:sp>
      <p:pic>
        <p:nvPicPr>
          <p:cNvPr id="4" name="Image 0" descr="/mnt/data/a_crisp_realistic_street_travel_photo_scene_in_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81912"/>
            <a:ext cx="3154680" cy="4187952"/>
          </a:xfrm>
          <a:prstGeom prst="rect">
            <a:avLst/>
          </a:prstGeom>
          <a:ln>
            <a:solidFill/>
          </a:ln>
        </p:spPr>
      </p:pic>
      <p:sp>
        <p:nvSpPr>
          <p:cNvPr id="5" name="Text 2"/>
          <p:cNvSpPr/>
          <p:nvPr/>
        </p:nvSpPr>
        <p:spPr>
          <a:xfrm>
            <a:off x="768096" y="5824728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Alex · 합성 페르소나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2615184" y="582472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이미지는 설명용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370832" y="1728216"/>
            <a:ext cx="2514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반복된 후기·행동에서 재구성한 생각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370832" y="2039112"/>
            <a:ext cx="63550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2400" b="1">
                <a:solidFill>
                  <a:srgbClr val="2EA8E6"/>
                </a:solidFill>
                <a:latin typeface="Noto Sans CJK KR"/>
              </a:rPr>
              <a:t>눈앞의 건물·시설 이름과
의미를 바로 알고 싶다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370832" y="2944368"/>
            <a:ext cx="6364224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2050" b="1">
                <a:solidFill>
                  <a:srgbClr val="171717"/>
                </a:solidFill>
                <a:latin typeface="Noto Sans CJK KR"/>
              </a:rPr>
              <a:t>다음 장소로 이동할 때
실제 진행 방향을 쉽게 확인하고 싶다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4370832" y="391363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행동 흐름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07408" y="4379976"/>
            <a:ext cx="109728" cy="10972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626864" y="4279392"/>
            <a:ext cx="160934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 확인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71616" y="4270248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11696" y="4379976"/>
            <a:ext cx="109728" cy="109728"/>
          </a:xfrm>
          <a:prstGeom prst="ellipse">
            <a:avLst/>
          </a:prstGeom>
          <a:solidFill>
            <a:srgbClr val="72CFF4"/>
          </a:solidFill>
          <a:ln w="12700">
            <a:solidFill>
              <a:srgbClr val="67C6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931152" y="4279392"/>
            <a:ext cx="160934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대상·안내 확인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75904" y="4270248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079992" y="4379976"/>
            <a:ext cx="109728" cy="10972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299448" y="4279392"/>
            <a:ext cx="160934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방향 판단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370832" y="4956048"/>
            <a:ext cx="6355080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370832" y="5157216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980" b="1">
                <a:solidFill>
                  <a:srgbClr val="2EA8E6"/>
                </a:solidFill>
                <a:latin typeface="Noto Sans CJK KR"/>
              </a:rPr>
              <a:t>불편 (PAIN)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5193792" y="5157216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언어·검색 장벽 · 방향 맞추기 · 안내 품질 편차 · 맥락 전환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370832" y="5605272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919" b="1">
                <a:solidFill>
                  <a:srgbClr val="2EA8E6"/>
                </a:solidFill>
                <a:latin typeface="Noto Sans CJK KR"/>
              </a:rPr>
              <a:t>원하는 점 (GAIN)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5358384" y="5550407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1350" b="1">
                <a:solidFill>
                  <a:srgbClr val="171717"/>
                </a:solidFill>
                <a:latin typeface="Noto Sans CJK KR"/>
              </a:rPr>
              <a:t>위치 · 대상 · 설명 · 이동 방향을 함께 확인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31520" y="6254496"/>
            <a:ext cx="9966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합성 기준: 2024~2026 서울·부산 실제 후기 + 공식자료 + 본인·주변인 여행 경험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91072"/>
            <a:ext cx="274320" cy="164592"/>
          </a:xfrm>
          <a:prstGeom prst="rect">
            <a:avLst/>
          </a:prstGeom>
          <a:ln>
            <a:noFill/>
          </a:ln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E8E88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content_w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393192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0" kern="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 기존 솔루션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22376" y="749808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/>
            <a:r>
              <a:rPr sz="3050" b="1">
                <a:solidFill>
                  <a:srgbClr val="171717"/>
                </a:solidFill>
                <a:latin typeface="Noto Sans CJK KR"/>
              </a:rPr>
              <a:t>지도·현장 안내·검색은 서로 다른 역할을 맡고 있다</a:t>
            </a:r>
          </a:p>
        </p:txBody>
      </p:sp>
      <p:sp>
        <p:nvSpPr>
          <p:cNvPr id="4" name="Text 2"/>
          <p:cNvSpPr/>
          <p:nvPr/>
        </p:nvSpPr>
        <p:spPr>
          <a:xfrm>
            <a:off x="768096" y="166420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잘 해결되는 영역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768096" y="204825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앱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066544" y="2048256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 · POI · 대중교통 · 길찾기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5541264" y="2048256"/>
            <a:ext cx="257860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NAVER Map · KakaoMap · Google Maps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" y="2715768"/>
            <a:ext cx="7370064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8096" y="307238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안내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066544" y="3072384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명칭 · 역사 · 동선 · QR/오디오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5541264" y="3072384"/>
            <a:ext cx="257860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안내판 · 관광지도 · 오디오가이드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" y="3739896"/>
            <a:ext cx="7370064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8096" y="409651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검색·이미지 AI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066544" y="4096512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이름을 모르는 대상의 탐색 시작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5541264" y="4096512"/>
            <a:ext cx="257860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웹검색 · Lens 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" y="4764024"/>
            <a:ext cx="7370064" cy="0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49056" y="1709928"/>
            <a:ext cx="0" cy="3456432"/>
          </a:xfrm>
          <a:prstGeom prst="line">
            <a:avLst/>
          </a:prstGeom>
          <a:noFill/>
          <a:ln w="1016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33104" y="166420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/>
            <a:r>
              <a:rPr>
                <a:solidFill/>
                <a:latin typeface="Noto Sans CJK KR"/>
              </a:rPr>
              <a:t>사용자가 각각 확인하는 정보</a:t>
            </a:r>
          </a:p>
        </p:txBody>
      </p:sp>
      <p:sp>
        <p:nvSpPr>
          <p:cNvPr id="19" name="Text 17"/>
          <p:cNvSpPr/>
          <p:nvPr/>
        </p:nvSpPr>
        <p:spPr>
          <a:xfrm>
            <a:off x="8833104" y="210312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33104" y="2359152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33104" y="285292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WHAT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33104" y="3108960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눈앞 대상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833104" y="360273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33104" y="3858768"/>
            <a:ext cx="184708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설명·주변 POI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833104" y="435254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DIRECTION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33104" y="4608576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171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방향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833104" y="5074920"/>
            <a:ext cx="25420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/>
            <a:r>
              <a:rPr sz="1360" b="1">
                <a:solidFill>
                  <a:srgbClr val="565B63"/>
                </a:solidFill>
                <a:latin typeface="Noto Sans CJK KR"/>
              </a:rPr>
              <a:t>프로젝트에서는 이 정보를
한 흐름에서 확인하는 방법을 검토한다.</a:t>
            </a:r>
          </a:p>
        </p:txBody>
      </p:sp>
      <p:sp>
        <p:nvSpPr>
          <p:cNvPr id="28" name="Text 26"/>
          <p:cNvSpPr/>
          <p:nvPr/>
        </p:nvSpPr>
        <p:spPr>
          <a:xfrm>
            <a:off x="731520" y="6254496"/>
            <a:ext cx="9966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솔루션 조사: NAVER/Kakao/Google Maps · 현장 QR/오디오 · 이미지 검색/일반 AI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91072"/>
            <a:ext cx="274320" cy="164592"/>
          </a:xfrm>
          <a:prstGeom prst="rect">
            <a:avLst/>
          </a:prstGeom>
          <a:ln>
            <a:noFill/>
          </a:ln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E8E88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closin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393192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0" kern="0" dirty="0">
                <a:solidFill>
                  <a:srgbClr val="565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 정리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22376" y="749808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/>
            <a:r>
              <a:rPr sz="3050" b="1">
                <a:solidFill>
                  <a:srgbClr val="171717"/>
                </a:solidFill>
                <a:latin typeface="Noto Sans CJK KR"/>
              </a:rPr>
              <a:t>프로젝트 방향: 위치·대상·설명·이동 방향을 한 흐름에서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91072"/>
            <a:ext cx="274320" cy="164592"/>
          </a:xfrm>
          <a:prstGeom prst="rect">
            <a:avLst/>
          </a:prstGeom>
          <a:ln>
            <a:noFill/>
          </a:ln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E8E88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50392" y="1847088"/>
            <a:ext cx="240487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Noto Sans CJK KR"/>
              </a:rPr>
              <a:t>WHERE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2194560"/>
            <a:ext cx="2377439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717"/>
                </a:solidFill>
                <a:latin typeface="Noto Sans CJK KR"/>
              </a:rPr>
              <a:t>현재 위치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7" y="1874519"/>
            <a:ext cx="9144" cy="813816"/>
          </a:xfrm>
          <a:prstGeom prst="rect">
            <a:avLst/>
          </a:prstGeom>
          <a:solidFill>
            <a:srgbClr val="D9DDE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92423" y="1847088"/>
            <a:ext cx="240487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Noto Sans CJK KR"/>
              </a:rPr>
              <a:t>WHAT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2423" y="2194560"/>
            <a:ext cx="2377439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717"/>
                </a:solidFill>
                <a:latin typeface="Noto Sans CJK KR"/>
              </a:rPr>
              <a:t>눈앞 대상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59" y="1874519"/>
            <a:ext cx="9144" cy="813816"/>
          </a:xfrm>
          <a:prstGeom prst="rect">
            <a:avLst/>
          </a:prstGeom>
          <a:solidFill>
            <a:srgbClr val="D9DDE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34455" y="1847088"/>
            <a:ext cx="240487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Noto Sans CJK KR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34455" y="2194560"/>
            <a:ext cx="2377439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1717"/>
                </a:solidFill>
                <a:latin typeface="Noto Sans CJK KR"/>
              </a:rPr>
              <a:t>설명 · 주변 POI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94192" y="1874519"/>
            <a:ext cx="9144" cy="813816"/>
          </a:xfrm>
          <a:prstGeom prst="rect">
            <a:avLst/>
          </a:prstGeom>
          <a:solidFill>
            <a:srgbClr val="D9DDE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1847088"/>
            <a:ext cx="240487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Noto Sans CJK KR"/>
              </a:rPr>
              <a:t>DIRECTION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2194560"/>
            <a:ext cx="2377439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717"/>
                </a:solidFill>
                <a:latin typeface="Noto Sans CJK KR"/>
              </a:rPr>
              <a:t>실제 방향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" y="3108960"/>
            <a:ext cx="10168128" cy="9144"/>
          </a:xfrm>
          <a:prstGeom prst="rect">
            <a:avLst/>
          </a:prstGeom>
          <a:solidFill>
            <a:srgbClr val="D9DDE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3493008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1717"/>
                </a:solidFill>
                <a:latin typeface="Noto Sans CJK KR"/>
              </a:rPr>
              <a:t>기존 지도·검색·현장 안내 기능은 그대로 활용한다.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4041648"/>
            <a:ext cx="10012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65B63"/>
                </a:solidFill>
                <a:latin typeface="Noto Sans CJK KR"/>
              </a:rPr>
              <a:t>같은 장소의 이름을 다시 검색하거나 지도와 실제 방향을 반복해서 맞춰 보는 과정을 줄이는 것이 목표다.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4983480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EA8E6"/>
                </a:solidFill>
                <a:latin typeface="Noto Sans CJK KR"/>
              </a:rPr>
              <a:t>시각 인식 → 공간 이해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532120"/>
            <a:ext cx="7040880" cy="292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71717"/>
                </a:solidFill>
                <a:latin typeface="Noto Sans CJK KR"/>
              </a:rPr>
              <a:t>위치 · 대상 · 설명 · 이동 방향을 함께 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276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Noto Sans CJK KR"/>
              </a:rPr>
              <a:t>Visual Recognition → Spatial Understanding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Chungnam National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Travel Guide - 문제정의 발표 v3</dc:title>
  <dc:subject>Visual Travel Guide - problem definition presentation</dc:subject>
  <dc:creator>OpenAI</dc:creator>
  <cp:lastModifiedBy>OpenAI</cp:lastModifiedBy>
  <cp:revision>1</cp:revision>
  <dcterms:created xsi:type="dcterms:W3CDTF">2026-09-20T13:07:36Z</dcterms:created>
  <dcterms:modified xsi:type="dcterms:W3CDTF">2026-09-20T13:07:36Z</dcterms:modified>
</cp:coreProperties>
</file>